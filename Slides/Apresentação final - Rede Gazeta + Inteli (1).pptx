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Inter"/>
      <p:regular r:id="rId17"/>
      <p:bold r:id="rId18"/>
      <p:italic r:id="rId19"/>
      <p:boldItalic r:id="rId20"/>
    </p:embeddedFont>
    <p:embeddedFont>
      <p:font typeface="Manrope"/>
      <p:regular r:id="rId21"/>
      <p:bold r:id="rId22"/>
    </p:embeddedFont>
    <p:embeddedFont>
      <p:font typeface="Outfit"/>
      <p:regular r:id="rId23"/>
      <p:bold r:id="rId24"/>
    </p:embeddedFont>
    <p:embeddedFont>
      <p:font typeface="Space Grotesk"/>
      <p:regular r:id="rId25"/>
      <p:bold r:id="rId26"/>
    </p:embeddedFont>
    <p:embeddedFont>
      <p:font typeface="Open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22" Type="http://schemas.openxmlformats.org/officeDocument/2006/relationships/font" Target="fonts/Manrope-bold.fntdata"/><Relationship Id="rId21" Type="http://schemas.openxmlformats.org/officeDocument/2006/relationships/font" Target="fonts/Manrope-regular.fntdata"/><Relationship Id="rId24" Type="http://schemas.openxmlformats.org/officeDocument/2006/relationships/font" Target="fonts/Outfit-bold.fntdata"/><Relationship Id="rId23" Type="http://schemas.openxmlformats.org/officeDocument/2006/relationships/font" Target="fonts/Outfi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paceGrotesk-bold.fntdata"/><Relationship Id="rId25" Type="http://schemas.openxmlformats.org/officeDocument/2006/relationships/font" Target="fonts/SpaceGrotesk-regular.fntdata"/><Relationship Id="rId28" Type="http://schemas.openxmlformats.org/officeDocument/2006/relationships/font" Target="fonts/OpenSans-bold.fntdata"/><Relationship Id="rId27" Type="http://schemas.openxmlformats.org/officeDocument/2006/relationships/font" Target="fonts/Open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-regular.fntdata"/><Relationship Id="rId16" Type="http://schemas.openxmlformats.org/officeDocument/2006/relationships/slide" Target="slides/slide11.xml"/><Relationship Id="rId19" Type="http://schemas.openxmlformats.org/officeDocument/2006/relationships/font" Target="fonts/Inter-italic.fntdata"/><Relationship Id="rId1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974c56887_4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a974c56887_4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974c56887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a974c56887_0_2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974c56887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a974c56887_0_3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974c56887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a974c56887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974c56887_4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a974c56887_4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974c56887_4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a974c56887_4_1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a974c56887_4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a974c56887_4_3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244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41.png"/><Relationship Id="rId11" Type="http://schemas.openxmlformats.org/officeDocument/2006/relationships/image" Target="../media/image5.png"/><Relationship Id="rId10" Type="http://schemas.openxmlformats.org/officeDocument/2006/relationships/image" Target="../media/image3.png"/><Relationship Id="rId9" Type="http://schemas.openxmlformats.org/officeDocument/2006/relationships/image" Target="../media/image39.png"/><Relationship Id="rId5" Type="http://schemas.openxmlformats.org/officeDocument/2006/relationships/image" Target="../media/image11.png"/><Relationship Id="rId6" Type="http://schemas.openxmlformats.org/officeDocument/2006/relationships/image" Target="../media/image4.png"/><Relationship Id="rId7" Type="http://schemas.openxmlformats.org/officeDocument/2006/relationships/image" Target="../media/image13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8.png"/><Relationship Id="rId9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7.png"/><Relationship Id="rId8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Relationship Id="rId4" Type="http://schemas.openxmlformats.org/officeDocument/2006/relationships/image" Target="../media/image20.png"/><Relationship Id="rId11" Type="http://schemas.openxmlformats.org/officeDocument/2006/relationships/image" Target="../media/image5.png"/><Relationship Id="rId10" Type="http://schemas.openxmlformats.org/officeDocument/2006/relationships/image" Target="../media/image21.png"/><Relationship Id="rId9" Type="http://schemas.openxmlformats.org/officeDocument/2006/relationships/image" Target="../media/image23.png"/><Relationship Id="rId5" Type="http://schemas.openxmlformats.org/officeDocument/2006/relationships/image" Target="../media/image44.png"/><Relationship Id="rId6" Type="http://schemas.openxmlformats.org/officeDocument/2006/relationships/image" Target="../media/image16.png"/><Relationship Id="rId7" Type="http://schemas.openxmlformats.org/officeDocument/2006/relationships/image" Target="../media/image14.png"/><Relationship Id="rId8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Relationship Id="rId4" Type="http://schemas.openxmlformats.org/officeDocument/2006/relationships/image" Target="../media/image42.png"/><Relationship Id="rId5" Type="http://schemas.openxmlformats.org/officeDocument/2006/relationships/image" Target="../media/image40.png"/><Relationship Id="rId6" Type="http://schemas.openxmlformats.org/officeDocument/2006/relationships/image" Target="../media/image28.png"/><Relationship Id="rId7" Type="http://schemas.openxmlformats.org/officeDocument/2006/relationships/image" Target="../media/image38.png"/><Relationship Id="rId8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Relationship Id="rId4" Type="http://schemas.openxmlformats.org/officeDocument/2006/relationships/image" Target="../media/image30.png"/><Relationship Id="rId9" Type="http://schemas.openxmlformats.org/officeDocument/2006/relationships/image" Target="../media/image5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43.png"/><Relationship Id="rId5" Type="http://schemas.openxmlformats.org/officeDocument/2006/relationships/image" Target="../media/image6.png"/><Relationship Id="rId6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053150" y="2274225"/>
            <a:ext cx="1064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rPr>
              <a:t>Uma parceria com a Rede Gazeta</a:t>
            </a:r>
            <a:endParaRPr>
              <a:solidFill>
                <a:schemeClr val="accen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581025" y="2274225"/>
            <a:ext cx="38100" cy="20955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423750" y="5717075"/>
            <a:ext cx="61872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A1A1AA"/>
                </a:solidFill>
                <a:latin typeface="Space Grotesk"/>
                <a:ea typeface="Space Grotesk"/>
                <a:cs typeface="Space Grotesk"/>
                <a:sym typeface="Space Grotesk"/>
              </a:rPr>
              <a:t>RADIO LITORAL VITÓRIA </a:t>
            </a:r>
            <a:endParaRPr b="1" i="0" sz="1050" u="none" cap="none" strike="noStrike">
              <a:solidFill>
                <a:srgbClr val="A1A1A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r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A1A1AA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MODELO DE ELASTICIDADE </a:t>
            </a:r>
            <a:endParaRPr b="1"/>
          </a:p>
        </p:txBody>
      </p:sp>
      <p:sp>
        <p:nvSpPr>
          <p:cNvPr id="87" name="Google Shape;87;p13"/>
          <p:cNvSpPr txBox="1"/>
          <p:nvPr/>
        </p:nvSpPr>
        <p:spPr>
          <a:xfrm>
            <a:off x="1000125" y="2590800"/>
            <a:ext cx="111414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9FC5E8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Precificação </a:t>
            </a:r>
            <a:br>
              <a:rPr b="0" i="0" lang="en-US" sz="1800" u="none" cap="none" strike="noStrike">
                <a:solidFill>
                  <a:srgbClr val="F3F9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F3F9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Dinâmica</a:t>
            </a:r>
            <a:endParaRPr>
              <a:solidFill>
                <a:srgbClr val="F3F9FF"/>
              </a:solidFill>
            </a:endParaRPr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571500" y="6410325"/>
            <a:ext cx="1057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Rede Gazeta + Inteli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1325225" y="6410325"/>
            <a:ext cx="295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785302"/>
            <a:ext cx="141922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81225" y="4785302"/>
            <a:ext cx="1266825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81025" y="1434672"/>
            <a:ext cx="5229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050">
                <a:solidFill>
                  <a:srgbClr val="BFDBFE"/>
                </a:solidFill>
                <a:latin typeface="Manrope"/>
                <a:ea typeface="Manrope"/>
                <a:cs typeface="Manrope"/>
                <a:sym typeface="Manrope"/>
              </a:rPr>
              <a:t>QUEM É O NOSSO PARCEIRO?</a:t>
            </a:r>
            <a:endParaRPr b="1">
              <a:solidFill>
                <a:srgbClr val="BFDBFE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DB91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1712775"/>
            <a:ext cx="7333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Liderança &amp;</a:t>
            </a:r>
            <a:r>
              <a:rPr lang="en-US" sz="4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b="1" i="0" lang="en-US" sz="45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Inovação</a:t>
            </a:r>
            <a:endParaRPr sz="45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581025" y="2735100"/>
            <a:ext cx="6597900" cy="20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3F9FF"/>
                </a:solidFill>
                <a:latin typeface="Inter"/>
                <a:ea typeface="Inter"/>
                <a:cs typeface="Inter"/>
                <a:sym typeface="Inter"/>
              </a:rPr>
              <a:t>A Rede Gazeta tem a grande missão de missão de informar</a:t>
            </a:r>
            <a:r>
              <a:rPr lang="en-US" sz="1800">
                <a:solidFill>
                  <a:srgbClr val="F3F9FF"/>
                </a:solidFill>
                <a:latin typeface="Inter"/>
                <a:ea typeface="Inter"/>
                <a:cs typeface="Inter"/>
                <a:sym typeface="Inter"/>
              </a:rPr>
              <a:t>,</a:t>
            </a:r>
            <a:r>
              <a:rPr b="0" i="0" lang="en-US" sz="1800" u="none" cap="none" strike="noStrike">
                <a:solidFill>
                  <a:srgbClr val="F3F9FF"/>
                </a:solidFill>
                <a:latin typeface="Inter"/>
                <a:ea typeface="Inter"/>
                <a:cs typeface="Inter"/>
                <a:sym typeface="Inter"/>
              </a:rPr>
              <a:t> entreter e comunicar.</a:t>
            </a:r>
            <a:r>
              <a:rPr lang="en-US" sz="1800">
                <a:solidFill>
                  <a:srgbClr val="F3F9FF"/>
                </a:solidFill>
                <a:latin typeface="Inter"/>
                <a:ea typeface="Inter"/>
                <a:cs typeface="Inter"/>
                <a:sym typeface="Inter"/>
              </a:rPr>
              <a:t> Maior grupo de comunicação do Espírito Santo, a empresa foi fundada em 1928, com o jornal A Gazeta, e é atualmente formado por diferentes negócios.</a:t>
            </a:r>
            <a:endParaRPr sz="1800">
              <a:solidFill>
                <a:srgbClr val="F3F9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3F9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819150" y="4937702"/>
            <a:ext cx="92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Rádio Litoral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2428875" y="4937700"/>
            <a:ext cx="101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Vitória, ES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571500" y="6410325"/>
            <a:ext cx="1057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Rede Gazeta + Inteli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1325225" y="6410325"/>
            <a:ext cx="295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68923" t="0"/>
          <a:stretch/>
        </p:blipFill>
        <p:spPr>
          <a:xfrm>
            <a:off x="8424438" y="1780019"/>
            <a:ext cx="2154849" cy="1882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30152" r="0" t="0"/>
          <a:stretch/>
        </p:blipFill>
        <p:spPr>
          <a:xfrm>
            <a:off x="7383214" y="3411225"/>
            <a:ext cx="4237276" cy="164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6086475" cy="68389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389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/>
          <p:nvPr/>
        </p:nvSpPr>
        <p:spPr>
          <a:xfrm>
            <a:off x="771525" y="1348978"/>
            <a:ext cx="1095300" cy="276300"/>
          </a:xfrm>
          <a:prstGeom prst="roundRect">
            <a:avLst>
              <a:gd fmla="val 50000" name="adj"/>
            </a:avLst>
          </a:prstGeom>
          <a:solidFill>
            <a:srgbClr val="E31C23"/>
          </a:solidFill>
          <a:ln cap="flat" cmpd="sng" w="9525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938625" y="1417825"/>
            <a:ext cx="761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ECACA"/>
                </a:solidFill>
                <a:latin typeface="Inter"/>
                <a:ea typeface="Inter"/>
                <a:cs typeface="Inter"/>
                <a:sym typeface="Inter"/>
              </a:rPr>
              <a:t>O PROBLEMA</a:t>
            </a:r>
            <a:endParaRPr>
              <a:solidFill>
                <a:srgbClr val="FECACA"/>
              </a:solidFill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771525" y="1768078"/>
            <a:ext cx="4790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CA5A5"/>
                </a:solidFill>
                <a:latin typeface="Space Grotesk"/>
                <a:ea typeface="Space Grotesk"/>
                <a:cs typeface="Space Grotesk"/>
                <a:sym typeface="Space Grotesk"/>
              </a:rPr>
              <a:t>Dinheiro na mesa.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771525" y="2850058"/>
            <a:ext cx="4562400" cy="15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rgbClr val="FECACA"/>
                </a:solidFill>
                <a:latin typeface="Inter"/>
                <a:ea typeface="Inter"/>
                <a:cs typeface="Inter"/>
                <a:sym typeface="Inter"/>
              </a:rPr>
              <a:t>O modelo de </a:t>
            </a:r>
            <a:r>
              <a:rPr b="1" lang="en-US" sz="1800">
                <a:solidFill>
                  <a:srgbClr val="FECACA"/>
                </a:solidFill>
                <a:latin typeface="Inter"/>
                <a:ea typeface="Inter"/>
                <a:cs typeface="Inter"/>
                <a:sym typeface="Inter"/>
              </a:rPr>
              <a:t>Tabela Fixa</a:t>
            </a:r>
            <a:r>
              <a:rPr lang="en-US" sz="1800">
                <a:solidFill>
                  <a:srgbClr val="FECACA"/>
                </a:solidFill>
                <a:latin typeface="Inter"/>
                <a:ea typeface="Inter"/>
                <a:cs typeface="Inter"/>
                <a:sym typeface="Inter"/>
              </a:rPr>
              <a:t> trata dias de alta demanda e dias vazios da mesma forma.</a:t>
            </a:r>
            <a:endParaRPr sz="1800">
              <a:solidFill>
                <a:srgbClr val="FECACA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FECA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17" name="Google Shape;117;p15"/>
          <p:cNvGrpSpPr/>
          <p:nvPr/>
        </p:nvGrpSpPr>
        <p:grpSpPr>
          <a:xfrm>
            <a:off x="6858000" y="1348968"/>
            <a:ext cx="1409700" cy="276300"/>
            <a:chOff x="6858000" y="1585168"/>
            <a:chExt cx="1409700" cy="276300"/>
          </a:xfrm>
        </p:grpSpPr>
        <p:sp>
          <p:nvSpPr>
            <p:cNvPr id="118" name="Google Shape;118;p15"/>
            <p:cNvSpPr/>
            <p:nvPr/>
          </p:nvSpPr>
          <p:spPr>
            <a:xfrm>
              <a:off x="6858000" y="1585168"/>
              <a:ext cx="1409700" cy="276300"/>
            </a:xfrm>
            <a:prstGeom prst="roundRect">
              <a:avLst>
                <a:gd fmla="val 50000" name="adj"/>
              </a:avLst>
            </a:prstGeom>
            <a:solidFill>
              <a:srgbClr val="003B71"/>
            </a:solidFill>
            <a:ln cap="flat" cmpd="sng" w="9525">
              <a:solidFill>
                <a:srgbClr val="60A5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15"/>
            <p:cNvSpPr txBox="1"/>
            <p:nvPr/>
          </p:nvSpPr>
          <p:spPr>
            <a:xfrm>
              <a:off x="7034250" y="1654025"/>
              <a:ext cx="1057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00" u="none" cap="none" strike="noStrike">
                  <a:solidFill>
                    <a:srgbClr val="60A5FA"/>
                  </a:solidFill>
                  <a:latin typeface="Inter"/>
                  <a:ea typeface="Inter"/>
                  <a:cs typeface="Inter"/>
                  <a:sym typeface="Inter"/>
                </a:rPr>
                <a:t>A OPORTUNIDADE</a:t>
              </a:r>
              <a:endParaRPr/>
            </a:p>
          </p:txBody>
        </p:sp>
      </p:grpSp>
      <p:sp>
        <p:nvSpPr>
          <p:cNvPr id="120" name="Google Shape;120;p15"/>
          <p:cNvSpPr txBox="1"/>
          <p:nvPr/>
        </p:nvSpPr>
        <p:spPr>
          <a:xfrm>
            <a:off x="6858000" y="1768068"/>
            <a:ext cx="4790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93C5FD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Inteligência.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858038" y="2850048"/>
            <a:ext cx="4562400" cy="11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FDBFE"/>
                </a:solidFill>
                <a:latin typeface="Inter"/>
                <a:ea typeface="Inter"/>
                <a:cs typeface="Inter"/>
                <a:sym typeface="Inter"/>
              </a:rPr>
              <a:t>A tecnologia permite ajustar o preço em tempo real para capturar cada centavo de valor disponível no mercado.</a:t>
            </a:r>
            <a:endParaRPr sz="1800"/>
          </a:p>
        </p:txBody>
      </p:sp>
      <p:sp>
        <p:nvSpPr>
          <p:cNvPr id="122" name="Google Shape;122;p15"/>
          <p:cNvSpPr txBox="1"/>
          <p:nvPr/>
        </p:nvSpPr>
        <p:spPr>
          <a:xfrm>
            <a:off x="871650" y="4521991"/>
            <a:ext cx="435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4CCCC"/>
                </a:solidFill>
                <a:latin typeface="Inter"/>
                <a:ea typeface="Inter"/>
                <a:cs typeface="Inter"/>
                <a:sym typeface="Inter"/>
              </a:rPr>
              <a:t>❌ Baixa </a:t>
            </a:r>
            <a:r>
              <a:rPr lang="en-US">
                <a:solidFill>
                  <a:srgbClr val="F4CCCC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b="0" i="0" lang="en-US" u="none" cap="none" strike="noStrike">
                <a:solidFill>
                  <a:srgbClr val="F4CCCC"/>
                </a:solidFill>
                <a:latin typeface="Inter"/>
                <a:ea typeface="Inter"/>
                <a:cs typeface="Inter"/>
                <a:sym typeface="Inter"/>
              </a:rPr>
              <a:t>emporada: </a:t>
            </a:r>
            <a:r>
              <a:rPr lang="en-US">
                <a:solidFill>
                  <a:srgbClr val="F4CCCC"/>
                </a:solidFill>
                <a:latin typeface="Inter"/>
                <a:ea typeface="Inter"/>
                <a:cs typeface="Inter"/>
                <a:sym typeface="Inter"/>
              </a:rPr>
              <a:t>g</a:t>
            </a:r>
            <a:r>
              <a:rPr b="0" i="0" lang="en-US" u="none" cap="none" strike="noStrike">
                <a:solidFill>
                  <a:srgbClr val="F4CCCC"/>
                </a:solidFill>
                <a:latin typeface="Inter"/>
                <a:ea typeface="Inter"/>
                <a:cs typeface="Inter"/>
                <a:sym typeface="Inter"/>
              </a:rPr>
              <a:t>rade </a:t>
            </a:r>
            <a:r>
              <a:rPr lang="en-US">
                <a:solidFill>
                  <a:srgbClr val="F4CCCC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b="0" i="0" lang="en-US" u="none" cap="none" strike="noStrike">
                <a:solidFill>
                  <a:srgbClr val="F4CCCC"/>
                </a:solidFill>
                <a:latin typeface="Inter"/>
                <a:ea typeface="Inter"/>
                <a:cs typeface="Inter"/>
                <a:sym typeface="Inter"/>
              </a:rPr>
              <a:t>ciosa.</a:t>
            </a:r>
            <a:endParaRPr>
              <a:solidFill>
                <a:srgbClr val="F4CCCC"/>
              </a:solidFill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871638" y="4873606"/>
            <a:ext cx="435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4CCCC"/>
                </a:solidFill>
                <a:latin typeface="Inter"/>
                <a:ea typeface="Inter"/>
                <a:cs typeface="Inter"/>
                <a:sym typeface="Inter"/>
              </a:rPr>
              <a:t>❌ Alta </a:t>
            </a:r>
            <a:r>
              <a:rPr lang="en-US">
                <a:solidFill>
                  <a:srgbClr val="F4CCCC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b="0" i="0" lang="en-US" u="none" cap="none" strike="noStrike">
                <a:solidFill>
                  <a:srgbClr val="F4CCCC"/>
                </a:solidFill>
                <a:latin typeface="Inter"/>
                <a:ea typeface="Inter"/>
                <a:cs typeface="Inter"/>
                <a:sym typeface="Inter"/>
              </a:rPr>
              <a:t>emporada: </a:t>
            </a:r>
            <a:r>
              <a:rPr lang="en-US">
                <a:solidFill>
                  <a:srgbClr val="F4CCCC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b="0" i="0" lang="en-US" u="none" cap="none" strike="noStrike">
                <a:solidFill>
                  <a:srgbClr val="F4CCCC"/>
                </a:solidFill>
                <a:latin typeface="Inter"/>
                <a:ea typeface="Inter"/>
                <a:cs typeface="Inter"/>
                <a:sym typeface="Inter"/>
              </a:rPr>
              <a:t>erda de </a:t>
            </a:r>
            <a:r>
              <a:rPr lang="en-US">
                <a:solidFill>
                  <a:srgbClr val="F4CCCC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b="0" i="0" lang="en-US" u="none" cap="none" strike="noStrike">
                <a:solidFill>
                  <a:srgbClr val="F4CCCC"/>
                </a:solidFill>
                <a:latin typeface="Inter"/>
                <a:ea typeface="Inter"/>
                <a:cs typeface="Inter"/>
                <a:sym typeface="Inter"/>
              </a:rPr>
              <a:t>argem.</a:t>
            </a:r>
            <a:endParaRPr>
              <a:solidFill>
                <a:srgbClr val="F4CCCC"/>
              </a:solidFill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880903" y="5225200"/>
            <a:ext cx="542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4CCCC"/>
                </a:solidFill>
                <a:latin typeface="Inter"/>
                <a:ea typeface="Inter"/>
                <a:cs typeface="Inter"/>
                <a:sym typeface="Inter"/>
              </a:rPr>
              <a:t>❌</a:t>
            </a:r>
            <a:r>
              <a:rPr lang="en-US">
                <a:solidFill>
                  <a:srgbClr val="F4CCCC"/>
                </a:solidFill>
                <a:latin typeface="Inter"/>
                <a:ea typeface="Inter"/>
                <a:cs typeface="Inter"/>
                <a:sym typeface="Inter"/>
              </a:rPr>
              <a:t>Rigidez na precificação: sem reação à volatilidade</a:t>
            </a:r>
            <a:endParaRPr>
              <a:solidFill>
                <a:srgbClr val="F4CCCC"/>
              </a:solidFill>
            </a:endParaRPr>
          </a:p>
        </p:txBody>
      </p:sp>
      <p:grpSp>
        <p:nvGrpSpPr>
          <p:cNvPr id="125" name="Google Shape;125;p15"/>
          <p:cNvGrpSpPr/>
          <p:nvPr/>
        </p:nvGrpSpPr>
        <p:grpSpPr>
          <a:xfrm>
            <a:off x="6858061" y="4466350"/>
            <a:ext cx="4145627" cy="430500"/>
            <a:chOff x="6858000" y="4295200"/>
            <a:chExt cx="3034200" cy="430500"/>
          </a:xfrm>
        </p:grpSpPr>
        <p:sp>
          <p:nvSpPr>
            <p:cNvPr id="126" name="Google Shape;126;p15"/>
            <p:cNvSpPr/>
            <p:nvPr/>
          </p:nvSpPr>
          <p:spPr>
            <a:xfrm>
              <a:off x="6858000" y="4295200"/>
              <a:ext cx="3034200" cy="430500"/>
            </a:xfrm>
            <a:prstGeom prst="roundRect">
              <a:avLst>
                <a:gd fmla="val 16667" name="adj"/>
              </a:avLst>
            </a:prstGeom>
            <a:solidFill>
              <a:srgbClr val="062F55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15"/>
            <p:cNvSpPr txBox="1"/>
            <p:nvPr/>
          </p:nvSpPr>
          <p:spPr>
            <a:xfrm>
              <a:off x="6934650" y="4415200"/>
              <a:ext cx="1828200" cy="215400"/>
            </a:xfrm>
            <a:prstGeom prst="rect">
              <a:avLst/>
            </a:prstGeom>
            <a:solidFill>
              <a:srgbClr val="062F55"/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BFDBFE"/>
                  </a:solidFill>
                  <a:latin typeface="Inter"/>
                  <a:ea typeface="Inter"/>
                  <a:cs typeface="Inter"/>
                  <a:sym typeface="Inter"/>
                </a:rPr>
                <a:t>Precificação dinâmica</a:t>
              </a:r>
              <a:endParaRPr>
                <a:solidFill>
                  <a:srgbClr val="BFDBFE"/>
                </a:solidFill>
              </a:endParaRPr>
            </a:p>
          </p:txBody>
        </p:sp>
      </p:grpSp>
      <p:grpSp>
        <p:nvGrpSpPr>
          <p:cNvPr id="128" name="Google Shape;128;p15"/>
          <p:cNvGrpSpPr/>
          <p:nvPr/>
        </p:nvGrpSpPr>
        <p:grpSpPr>
          <a:xfrm>
            <a:off x="6858174" y="5058250"/>
            <a:ext cx="4145627" cy="430500"/>
            <a:chOff x="6858000" y="4887100"/>
            <a:chExt cx="3034200" cy="430500"/>
          </a:xfrm>
        </p:grpSpPr>
        <p:sp>
          <p:nvSpPr>
            <p:cNvPr id="129" name="Google Shape;129;p15"/>
            <p:cNvSpPr/>
            <p:nvPr/>
          </p:nvSpPr>
          <p:spPr>
            <a:xfrm>
              <a:off x="6858000" y="4887100"/>
              <a:ext cx="3034200" cy="430500"/>
            </a:xfrm>
            <a:prstGeom prst="roundRect">
              <a:avLst>
                <a:gd fmla="val 16667" name="adj"/>
              </a:avLst>
            </a:prstGeom>
            <a:solidFill>
              <a:srgbClr val="062F55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15"/>
            <p:cNvSpPr txBox="1"/>
            <p:nvPr/>
          </p:nvSpPr>
          <p:spPr>
            <a:xfrm>
              <a:off x="6934650" y="5007100"/>
              <a:ext cx="1828200" cy="215400"/>
            </a:xfrm>
            <a:prstGeom prst="rect">
              <a:avLst/>
            </a:prstGeom>
            <a:solidFill>
              <a:srgbClr val="062F5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0"/>
                </a:srgbClr>
              </a:outerShdw>
            </a:effectLst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BFDBFE"/>
                  </a:solidFill>
                  <a:latin typeface="Inter"/>
                  <a:ea typeface="Inter"/>
                  <a:cs typeface="Inter"/>
                  <a:sym typeface="Inter"/>
                </a:rPr>
                <a:t>Otimização da ocupação</a:t>
              </a:r>
              <a:endParaRPr>
                <a:solidFill>
                  <a:srgbClr val="BFDBFE"/>
                </a:solidFill>
              </a:endParaRPr>
            </a:p>
          </p:txBody>
        </p:sp>
      </p:grpSp>
      <p:pic>
        <p:nvPicPr>
          <p:cNvPr descr="image.png" id="131" name="Google Shape;13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571500" y="6410325"/>
            <a:ext cx="1057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Rede Gazeta + Inteli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11325225" y="6410325"/>
            <a:ext cx="295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3975" y="2849261"/>
            <a:ext cx="3524450" cy="34092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904827"/>
            <a:ext cx="3486150" cy="33721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904827"/>
            <a:ext cx="3486150" cy="33721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63113" y="2867789"/>
            <a:ext cx="3486150" cy="33721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3925" y="3247727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5825" y="324772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581025" y="581025"/>
            <a:ext cx="11581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 </a:t>
            </a:r>
            <a:r>
              <a:rPr b="1" lang="en-US" sz="42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</a:t>
            </a:r>
            <a:r>
              <a:rPr b="1" i="0" lang="en-US" sz="42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onstrução da </a:t>
            </a:r>
            <a:r>
              <a:rPr b="1" lang="en-US" sz="42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</a:t>
            </a:r>
            <a:r>
              <a:rPr b="1" i="0" lang="en-US" sz="42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olução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581025" y="1663000"/>
            <a:ext cx="11029800" cy="11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rgbClr val="F3F4F6"/>
                </a:solidFill>
                <a:latin typeface="Inter"/>
                <a:ea typeface="Inter"/>
                <a:cs typeface="Inter"/>
                <a:sym typeface="Inter"/>
              </a:rPr>
              <a:t>Não chegamos a uma solução por acaso. Na verdade, desenvolvemos um processo iterativo de ciência de dados para validar o que realmente move o ponteiro da receita.</a:t>
            </a:r>
            <a:endParaRPr sz="1800">
              <a:solidFill>
                <a:srgbClr val="F3F4F6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A1A1A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923925" y="4009727"/>
            <a:ext cx="294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Harmonização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923925" y="4508748"/>
            <a:ext cx="2800500" cy="17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Unificamos anos de histórico de negociações complexas em uma base limpa e bem estruturada</a:t>
            </a:r>
            <a:r>
              <a:rPr lang="en-US" sz="1600">
                <a:solidFill>
                  <a:srgbClr val="3D85C6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600">
              <a:solidFill>
                <a:srgbClr val="3D85C6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A1A1A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4695825" y="4009727"/>
            <a:ext cx="294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Investigação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4695825" y="4508748"/>
            <a:ext cx="2800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Testamos 5 modelos incrementais. Descobrimos que a </a:t>
            </a:r>
            <a:r>
              <a:rPr b="1" lang="en-US" sz="150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negociação </a:t>
            </a:r>
            <a:r>
              <a:rPr lang="en-US" sz="150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é o fator que mais impacta  o preço final do espaço publicitário.</a:t>
            </a:r>
            <a:endParaRPr sz="1500">
              <a:solidFill>
                <a:srgbClr val="3D85C6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A1A1A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50" name="Google Shape;150;p16"/>
          <p:cNvPicPr preferRelativeResize="0"/>
          <p:nvPr/>
        </p:nvPicPr>
        <p:blipFill rotWithShape="1">
          <a:blip r:embed="rId9">
            <a:alphaModFix amt="81000"/>
          </a:blip>
          <a:srcRect b="0" l="0" r="0" t="0"/>
          <a:stretch/>
        </p:blipFill>
        <p:spPr>
          <a:xfrm>
            <a:off x="8467725" y="3247727"/>
            <a:ext cx="571500" cy="571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8467725" y="4009727"/>
            <a:ext cx="294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 Diagnóstico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8467725" y="4508748"/>
            <a:ext cx="2800500" cy="10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chave não é prever o preço, mas diagnosticar a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Elasticidade</a:t>
            </a:r>
            <a:r>
              <a:rPr b="0" i="0" lang="en-U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(Sensibilidade).</a:t>
            </a:r>
            <a:endParaRPr sz="1600"/>
          </a:p>
        </p:txBody>
      </p:sp>
      <p:pic>
        <p:nvPicPr>
          <p:cNvPr descr="image.png" id="153" name="Google Shape;153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34412" y="3400127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 txBox="1"/>
          <p:nvPr/>
        </p:nvSpPr>
        <p:spPr>
          <a:xfrm>
            <a:off x="571500" y="6410325"/>
            <a:ext cx="1057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Rede Gazeta + Inteli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11325225" y="6410325"/>
            <a:ext cx="295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/>
          <p:nvPr/>
        </p:nvSpPr>
        <p:spPr>
          <a:xfrm>
            <a:off x="5324475" y="348725"/>
            <a:ext cx="1543200" cy="276300"/>
          </a:xfrm>
          <a:prstGeom prst="roundRect">
            <a:avLst>
              <a:gd fmla="val 50000" name="adj"/>
            </a:avLst>
          </a:prstGeom>
          <a:solidFill>
            <a:srgbClr val="003B71"/>
          </a:solidFill>
          <a:ln cap="flat" cmpd="sng" w="9525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5438775" y="405875"/>
            <a:ext cx="1314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DEEP DIVE TÉCNICO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2335597" y="702625"/>
            <a:ext cx="7521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BFDBFE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Descritivo da solução</a:t>
            </a:r>
            <a:endParaRPr>
              <a:solidFill>
                <a:srgbClr val="BFDBFE"/>
              </a:solidFill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2007525" y="1519125"/>
            <a:ext cx="8177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Como saber se vendemos mais porque o preço estava bom ou porque era Natal? Usamos </a:t>
            </a:r>
            <a:r>
              <a:rPr b="1" i="0" lang="en-US" sz="1650" u="none" cap="none" strike="noStrike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Regressão Múltipla Log-Log</a:t>
            </a:r>
            <a:r>
              <a:rPr b="0" i="0" lang="en-US" sz="1650" u="none" cap="none" strike="noStrike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>
              <a:solidFill>
                <a:srgbClr val="EFEFEF"/>
              </a:solidFill>
            </a:endParaRPr>
          </a:p>
        </p:txBody>
      </p:sp>
      <p:grpSp>
        <p:nvGrpSpPr>
          <p:cNvPr id="165" name="Google Shape;165;p17"/>
          <p:cNvGrpSpPr/>
          <p:nvPr/>
        </p:nvGrpSpPr>
        <p:grpSpPr>
          <a:xfrm>
            <a:off x="826297" y="2467698"/>
            <a:ext cx="10298240" cy="1117576"/>
            <a:chOff x="1961264" y="2424471"/>
            <a:chExt cx="8177100" cy="940800"/>
          </a:xfrm>
        </p:grpSpPr>
        <p:sp>
          <p:nvSpPr>
            <p:cNvPr id="166" name="Google Shape;166;p17"/>
            <p:cNvSpPr/>
            <p:nvPr/>
          </p:nvSpPr>
          <p:spPr>
            <a:xfrm>
              <a:off x="1961264" y="2424471"/>
              <a:ext cx="8177100" cy="9408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7"/>
            <p:cNvSpPr txBox="1"/>
            <p:nvPr/>
          </p:nvSpPr>
          <p:spPr>
            <a:xfrm>
              <a:off x="2350275" y="2741530"/>
              <a:ext cx="2171700" cy="1815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888888"/>
                </a:solidFill>
              </a:endParaRPr>
            </a:p>
          </p:txBody>
        </p:sp>
        <p:sp>
          <p:nvSpPr>
            <p:cNvPr id="168" name="Google Shape;168;p17"/>
            <p:cNvSpPr txBox="1"/>
            <p:nvPr/>
          </p:nvSpPr>
          <p:spPr>
            <a:xfrm>
              <a:off x="2308715" y="2537502"/>
              <a:ext cx="7678500" cy="2073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73763"/>
                  </a:solidFill>
                  <a:latin typeface="Inter"/>
                  <a:ea typeface="Inter"/>
                  <a:cs typeface="Inter"/>
                  <a:sym typeface="Inter"/>
                </a:rPr>
                <a:t>A regressão isola a correlação preço e demanda, enquanto neutraliza efeitos de fatores externos</a:t>
              </a:r>
              <a:endParaRPr b="1" sz="1600">
                <a:solidFill>
                  <a:srgbClr val="073763"/>
                </a:solidFill>
              </a:endParaRPr>
            </a:p>
          </p:txBody>
        </p:sp>
        <p:sp>
          <p:nvSpPr>
            <p:cNvPr id="169" name="Google Shape;169;p17"/>
            <p:cNvSpPr txBox="1"/>
            <p:nvPr/>
          </p:nvSpPr>
          <p:spPr>
            <a:xfrm>
              <a:off x="2311003" y="2820204"/>
              <a:ext cx="7419900" cy="4716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99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u="none" cap="none" strike="noStrike">
                  <a:solidFill>
                    <a:srgbClr val="0B5394"/>
                  </a:solidFill>
                  <a:latin typeface="Inter"/>
                  <a:ea typeface="Inter"/>
                  <a:cs typeface="Inter"/>
                  <a:sym typeface="Inter"/>
                </a:rPr>
                <a:t>Variáveis de </a:t>
              </a:r>
              <a:r>
                <a:rPr lang="en-US">
                  <a:solidFill>
                    <a:srgbClr val="0B5394"/>
                  </a:solidFill>
                  <a:latin typeface="Inter"/>
                  <a:ea typeface="Inter"/>
                  <a:cs typeface="Inter"/>
                  <a:sym typeface="Inter"/>
                </a:rPr>
                <a:t>c</a:t>
              </a:r>
              <a:r>
                <a:rPr b="0" i="0" lang="en-US" u="none" cap="none" strike="noStrike">
                  <a:solidFill>
                    <a:srgbClr val="0B5394"/>
                  </a:solidFill>
                  <a:latin typeface="Inter"/>
                  <a:ea typeface="Inter"/>
                  <a:cs typeface="Inter"/>
                  <a:sym typeface="Inter"/>
                </a:rPr>
                <a:t>ontrole</a:t>
              </a:r>
              <a:r>
                <a:rPr lang="en-US">
                  <a:solidFill>
                    <a:srgbClr val="0B5394"/>
                  </a:solidFill>
                  <a:latin typeface="Inter"/>
                  <a:ea typeface="Inter"/>
                  <a:cs typeface="Inter"/>
                  <a:sym typeface="Inter"/>
                </a:rPr>
                <a:t> i</a:t>
              </a:r>
              <a:r>
                <a:rPr b="0" i="0" lang="en-US" u="none" cap="none" strike="noStrike">
                  <a:solidFill>
                    <a:srgbClr val="0B5394"/>
                  </a:solidFill>
                  <a:latin typeface="Inter"/>
                  <a:ea typeface="Inter"/>
                  <a:cs typeface="Inter"/>
                  <a:sym typeface="Inter"/>
                </a:rPr>
                <a:t>ncluem o efeito de feriados, dias de pagamento, Black Friday, Natal e dias da semana, garantindo que o resultado do preço não seja confundido com a sazonalidade.</a:t>
              </a:r>
              <a:endParaRPr>
                <a:solidFill>
                  <a:srgbClr val="0B5394"/>
                </a:solidFill>
              </a:endParaRPr>
            </a:p>
          </p:txBody>
        </p:sp>
      </p:grpSp>
      <p:pic>
        <p:nvPicPr>
          <p:cNvPr descr="image.png" id="170" name="Google Shape;170;p17"/>
          <p:cNvPicPr preferRelativeResize="0"/>
          <p:nvPr/>
        </p:nvPicPr>
        <p:blipFill rotWithShape="1">
          <a:blip r:embed="rId3">
            <a:alphaModFix/>
          </a:blip>
          <a:srcRect b="0" l="1197" r="618" t="0"/>
          <a:stretch/>
        </p:blipFill>
        <p:spPr>
          <a:xfrm>
            <a:off x="826275" y="2457900"/>
            <a:ext cx="10298250" cy="1171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1" name="Google Shape;171;p17"/>
          <p:cNvGrpSpPr/>
          <p:nvPr/>
        </p:nvGrpSpPr>
        <p:grpSpPr>
          <a:xfrm>
            <a:off x="884474" y="3785484"/>
            <a:ext cx="10298240" cy="1117635"/>
            <a:chOff x="750501" y="3719400"/>
            <a:chExt cx="10298240" cy="1405300"/>
          </a:xfrm>
        </p:grpSpPr>
        <p:grpSp>
          <p:nvGrpSpPr>
            <p:cNvPr id="172" name="Google Shape;172;p17"/>
            <p:cNvGrpSpPr/>
            <p:nvPr/>
          </p:nvGrpSpPr>
          <p:grpSpPr>
            <a:xfrm>
              <a:off x="750501" y="3719400"/>
              <a:ext cx="10298240" cy="1405300"/>
              <a:chOff x="2007450" y="2580475"/>
              <a:chExt cx="8177100" cy="1106100"/>
            </a:xfrm>
          </p:grpSpPr>
          <p:sp>
            <p:nvSpPr>
              <p:cNvPr id="173" name="Google Shape;173;p17"/>
              <p:cNvSpPr/>
              <p:nvPr/>
            </p:nvSpPr>
            <p:spPr>
              <a:xfrm>
                <a:off x="2007450" y="2580475"/>
                <a:ext cx="8177100" cy="1106100"/>
              </a:xfrm>
              <a:prstGeom prst="roundRect">
                <a:avLst>
                  <a:gd fmla="val 16667" name="adj"/>
                </a:avLst>
              </a:prstGeom>
              <a:solidFill>
                <a:srgbClr val="BFDBF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17"/>
              <p:cNvSpPr txBox="1"/>
              <p:nvPr/>
            </p:nvSpPr>
            <p:spPr>
              <a:xfrm>
                <a:off x="2350275" y="2741530"/>
                <a:ext cx="2171700" cy="21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888888"/>
                  </a:solidFill>
                </a:endParaRPr>
              </a:p>
            </p:txBody>
          </p:sp>
          <p:sp>
            <p:nvSpPr>
              <p:cNvPr id="175" name="Google Shape;175;p17"/>
              <p:cNvSpPr txBox="1"/>
              <p:nvPr/>
            </p:nvSpPr>
            <p:spPr>
              <a:xfrm>
                <a:off x="2297390" y="2775754"/>
                <a:ext cx="7775100" cy="2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73763"/>
                    </a:solidFill>
                    <a:latin typeface="Inter"/>
                    <a:ea typeface="Inter"/>
                    <a:cs typeface="Inter"/>
                    <a:sym typeface="Inter"/>
                  </a:rPr>
                  <a:t>Mediana</a:t>
                </a:r>
                <a:endParaRPr b="1" sz="1600">
                  <a:solidFill>
                    <a:srgbClr val="073763"/>
                  </a:solidFill>
                </a:endParaRPr>
              </a:p>
            </p:txBody>
          </p:sp>
          <p:sp>
            <p:nvSpPr>
              <p:cNvPr id="176" name="Google Shape;176;p17"/>
              <p:cNvSpPr txBox="1"/>
              <p:nvPr/>
            </p:nvSpPr>
            <p:spPr>
              <a:xfrm>
                <a:off x="2297395" y="3047640"/>
                <a:ext cx="7597200" cy="55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5990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solidFill>
                      <a:srgbClr val="0B5394"/>
                    </a:solidFill>
                    <a:latin typeface="Inter"/>
                    <a:ea typeface="Inter"/>
                    <a:cs typeface="Inter"/>
                    <a:sym typeface="Inter"/>
                  </a:rPr>
                  <a:t>O preço de entrada no modelo (X) é a Mediana dos preços individuais praticados naquele dia para o formato. impede que grandes volumes de segundos vendidos a um preço atípico distorçam o resultado do modelo Beta.</a:t>
                </a:r>
                <a:endParaRPr>
                  <a:solidFill>
                    <a:srgbClr val="0B5394"/>
                  </a:solidFill>
                </a:endParaRPr>
              </a:p>
            </p:txBody>
          </p:sp>
        </p:grpSp>
        <p:sp>
          <p:nvSpPr>
            <p:cNvPr id="177" name="Google Shape;177;p17"/>
            <p:cNvSpPr txBox="1"/>
            <p:nvPr/>
          </p:nvSpPr>
          <p:spPr>
            <a:xfrm>
              <a:off x="1115652" y="3835508"/>
              <a:ext cx="7834800" cy="17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INPUT</a:t>
              </a: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descr="image.png" id="178" name="Google Shape;178;p17"/>
          <p:cNvPicPr preferRelativeResize="0"/>
          <p:nvPr/>
        </p:nvPicPr>
        <p:blipFill rotWithShape="1">
          <a:blip r:embed="rId3">
            <a:alphaModFix/>
          </a:blip>
          <a:srcRect b="0" l="744" r="1322" t="0"/>
          <a:stretch/>
        </p:blipFill>
        <p:spPr>
          <a:xfrm>
            <a:off x="884475" y="3790123"/>
            <a:ext cx="10423251" cy="1117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7"/>
          <p:cNvGrpSpPr/>
          <p:nvPr/>
        </p:nvGrpSpPr>
        <p:grpSpPr>
          <a:xfrm>
            <a:off x="884574" y="5096047"/>
            <a:ext cx="10298240" cy="1046386"/>
            <a:chOff x="750501" y="3719400"/>
            <a:chExt cx="10298240" cy="1405300"/>
          </a:xfrm>
        </p:grpSpPr>
        <p:grpSp>
          <p:nvGrpSpPr>
            <p:cNvPr id="180" name="Google Shape;180;p17"/>
            <p:cNvGrpSpPr/>
            <p:nvPr/>
          </p:nvGrpSpPr>
          <p:grpSpPr>
            <a:xfrm>
              <a:off x="750501" y="3719400"/>
              <a:ext cx="10298240" cy="1405300"/>
              <a:chOff x="2007450" y="2580475"/>
              <a:chExt cx="8177100" cy="1106100"/>
            </a:xfrm>
          </p:grpSpPr>
          <p:sp>
            <p:nvSpPr>
              <p:cNvPr id="181" name="Google Shape;181;p17"/>
              <p:cNvSpPr/>
              <p:nvPr/>
            </p:nvSpPr>
            <p:spPr>
              <a:xfrm>
                <a:off x="2007450" y="2580475"/>
                <a:ext cx="8177100" cy="1106100"/>
              </a:xfrm>
              <a:prstGeom prst="roundRect">
                <a:avLst>
                  <a:gd fmla="val 16667" name="adj"/>
                </a:avLst>
              </a:prstGeom>
              <a:solidFill>
                <a:srgbClr val="9FC5E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17"/>
              <p:cNvSpPr txBox="1"/>
              <p:nvPr/>
            </p:nvSpPr>
            <p:spPr>
              <a:xfrm>
                <a:off x="2350275" y="2741530"/>
                <a:ext cx="2171700" cy="227700"/>
              </a:xfrm>
              <a:prstGeom prst="rect">
                <a:avLst/>
              </a:prstGeom>
              <a:solidFill>
                <a:srgbClr val="9FC5E8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888888"/>
                  </a:solidFill>
                </a:endParaRPr>
              </a:p>
            </p:txBody>
          </p:sp>
          <p:sp>
            <p:nvSpPr>
              <p:cNvPr id="183" name="Google Shape;183;p17"/>
              <p:cNvSpPr txBox="1"/>
              <p:nvPr/>
            </p:nvSpPr>
            <p:spPr>
              <a:xfrm>
                <a:off x="2350275" y="2831203"/>
                <a:ext cx="7722300" cy="260400"/>
              </a:xfrm>
              <a:prstGeom prst="rect">
                <a:avLst/>
              </a:prstGeom>
              <a:solidFill>
                <a:srgbClr val="9FC5E8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73763"/>
                    </a:solidFill>
                    <a:latin typeface="Inter"/>
                    <a:ea typeface="Inter"/>
                    <a:cs typeface="Inter"/>
                    <a:sym typeface="Inter"/>
                  </a:rPr>
                  <a:t>Precificação baseada na elasticidade de cada formato </a:t>
                </a:r>
                <a:endParaRPr b="1" sz="1600">
                  <a:solidFill>
                    <a:srgbClr val="073763"/>
                  </a:solidFill>
                </a:endParaRPr>
              </a:p>
            </p:txBody>
          </p:sp>
          <p:sp>
            <p:nvSpPr>
              <p:cNvPr id="184" name="Google Shape;184;p17"/>
              <p:cNvSpPr txBox="1"/>
              <p:nvPr/>
            </p:nvSpPr>
            <p:spPr>
              <a:xfrm>
                <a:off x="2350288" y="3181961"/>
                <a:ext cx="7597200" cy="227700"/>
              </a:xfrm>
              <a:prstGeom prst="rect">
                <a:avLst/>
              </a:prstGeom>
              <a:solidFill>
                <a:srgbClr val="9FC5E8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5990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solidFill>
                      <a:srgbClr val="0B5394"/>
                    </a:solidFill>
                    <a:latin typeface="Inter"/>
                    <a:ea typeface="Inter"/>
                    <a:cs typeface="Inter"/>
                    <a:sym typeface="Inter"/>
                  </a:rPr>
                  <a:t>Determina estatisticamente (Beta) a sensibilidade do cliente ao preço para cada formato e mês do ano. </a:t>
                </a:r>
                <a:endParaRPr>
                  <a:solidFill>
                    <a:srgbClr val="0B5394"/>
                  </a:solidFill>
                </a:endParaRPr>
              </a:p>
            </p:txBody>
          </p:sp>
        </p:grpSp>
        <p:sp>
          <p:nvSpPr>
            <p:cNvPr id="185" name="Google Shape;185;p17"/>
            <p:cNvSpPr txBox="1"/>
            <p:nvPr/>
          </p:nvSpPr>
          <p:spPr>
            <a:xfrm>
              <a:off x="1163536" y="3870345"/>
              <a:ext cx="7826400" cy="186000"/>
            </a:xfrm>
            <a:prstGeom prst="rect">
              <a:avLst/>
            </a:prstGeom>
            <a:solidFill>
              <a:srgbClr val="9FC5E8"/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OUTPUT</a:t>
              </a: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descr="image.png" id="186" name="Google Shape;186;p17"/>
          <p:cNvPicPr preferRelativeResize="0"/>
          <p:nvPr/>
        </p:nvPicPr>
        <p:blipFill rotWithShape="1">
          <a:blip r:embed="rId3">
            <a:alphaModFix/>
          </a:blip>
          <a:srcRect b="0" l="1918" r="1182" t="0"/>
          <a:stretch/>
        </p:blipFill>
        <p:spPr>
          <a:xfrm>
            <a:off x="884375" y="5058776"/>
            <a:ext cx="10423251" cy="1117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7"/>
          <p:cNvSpPr txBox="1"/>
          <p:nvPr/>
        </p:nvSpPr>
        <p:spPr>
          <a:xfrm>
            <a:off x="571500" y="6410325"/>
            <a:ext cx="1057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Rede Gazeta + Inteli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11325225" y="6410325"/>
            <a:ext cx="295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"/>
          <p:cNvSpPr txBox="1"/>
          <p:nvPr/>
        </p:nvSpPr>
        <p:spPr>
          <a:xfrm>
            <a:off x="1195362" y="2782512"/>
            <a:ext cx="9801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2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Não é sobre </a:t>
            </a:r>
            <a:r>
              <a:rPr b="1" lang="en-US" sz="42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</a:t>
            </a:r>
            <a:r>
              <a:rPr b="1" i="0" lang="en-US" sz="42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rever </a:t>
            </a:r>
            <a:r>
              <a:rPr i="0" lang="en-US" sz="42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 </a:t>
            </a:r>
            <a:r>
              <a:rPr lang="en-US" sz="42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</a:t>
            </a:r>
            <a:r>
              <a:rPr i="0" lang="en-US" sz="42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reço.</a:t>
            </a:r>
            <a:br>
              <a:rPr i="0" lang="en-US" sz="18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i="0" lang="en-US" sz="42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É sobre </a:t>
            </a:r>
            <a:r>
              <a:rPr b="1" lang="en-US" sz="42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</a:t>
            </a:r>
            <a:r>
              <a:rPr b="1" i="0" lang="en-US" sz="42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iagnosticar </a:t>
            </a:r>
            <a:r>
              <a:rPr i="0" lang="en-US" sz="42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 </a:t>
            </a:r>
            <a:r>
              <a:rPr lang="en-US" sz="42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</a:t>
            </a:r>
            <a:r>
              <a:rPr i="0" lang="en-US" sz="42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emanda.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descr="image.png" id="195" name="Google Shape;19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571500" y="6410325"/>
            <a:ext cx="1057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Rede Gazeta + Inteli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11325225" y="6410325"/>
            <a:ext cx="295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510037"/>
            <a:ext cx="5324474" cy="34955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510037"/>
            <a:ext cx="5324474" cy="34955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3925" y="4653013"/>
            <a:ext cx="4638674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9400" y="4653013"/>
            <a:ext cx="4638674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 txBox="1"/>
          <p:nvPr/>
        </p:nvSpPr>
        <p:spPr>
          <a:xfrm>
            <a:off x="923925" y="3273762"/>
            <a:ext cx="487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CA5A5"/>
                </a:solidFill>
                <a:latin typeface="Space Grotesk"/>
                <a:ea typeface="Space Grotesk"/>
                <a:cs typeface="Space Grotesk"/>
                <a:sym typeface="Space Grotesk"/>
              </a:rPr>
              <a:t>Elástico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923925" y="3760255"/>
            <a:ext cx="46386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O cliente é sensível </a:t>
            </a:r>
            <a:r>
              <a:rPr lang="en-US" sz="170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às</a:t>
            </a:r>
            <a:r>
              <a:rPr b="0" i="0" lang="en-US" sz="17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alterações de preço. </a:t>
            </a:r>
            <a:endParaRPr b="0" i="0" sz="1700" u="none" cap="none" strike="noStrike">
              <a:solidFill>
                <a:srgbClr val="A1A1A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170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e subirmos o preço, ele deixará de comprar.</a:t>
            </a:r>
            <a:endParaRPr sz="1700"/>
          </a:p>
        </p:txBody>
      </p:sp>
      <p:sp>
        <p:nvSpPr>
          <p:cNvPr id="208" name="Google Shape;208;p19"/>
          <p:cNvSpPr txBox="1"/>
          <p:nvPr/>
        </p:nvSpPr>
        <p:spPr>
          <a:xfrm>
            <a:off x="6629400" y="3273762"/>
            <a:ext cx="487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93C5FD"/>
                </a:solidFill>
                <a:latin typeface="Space Grotesk"/>
                <a:ea typeface="Space Grotesk"/>
                <a:cs typeface="Space Grotesk"/>
                <a:sym typeface="Space Grotesk"/>
              </a:rPr>
              <a:t>Inelástico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6629400" y="3807836"/>
            <a:ext cx="46386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O cliente paga pela qualidade</a:t>
            </a:r>
            <a:r>
              <a:rPr lang="en-US" sz="170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, sem se abalar muito pelo preço. </a:t>
            </a:r>
            <a:r>
              <a:rPr b="0" i="0" lang="en-US" sz="17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A demanda é resistente.</a:t>
            </a:r>
            <a:endParaRPr sz="1700"/>
          </a:p>
        </p:txBody>
      </p:sp>
      <p:pic>
        <p:nvPicPr>
          <p:cNvPr descr="image.png" id="210" name="Google Shape;21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3925" y="2852937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9"/>
          <p:cNvSpPr txBox="1"/>
          <p:nvPr/>
        </p:nvSpPr>
        <p:spPr>
          <a:xfrm>
            <a:off x="4450425" y="2847938"/>
            <a:ext cx="111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β &lt; </a:t>
            </a:r>
            <a:r>
              <a:rPr b="1" i="0" lang="en-US" sz="24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-</a:t>
            </a:r>
            <a:r>
              <a:rPr b="1" lang="en-US" sz="24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r>
              <a:rPr b="1" i="0" lang="en-US" sz="24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.</a:t>
            </a:r>
            <a:r>
              <a:rPr b="1" lang="en-US" sz="24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5</a:t>
            </a:r>
            <a:endParaRPr sz="2400"/>
          </a:p>
        </p:txBody>
      </p:sp>
      <p:sp>
        <p:nvSpPr>
          <p:cNvPr id="212" name="Google Shape;212;p19"/>
          <p:cNvSpPr txBox="1"/>
          <p:nvPr/>
        </p:nvSpPr>
        <p:spPr>
          <a:xfrm>
            <a:off x="1114425" y="4843513"/>
            <a:ext cx="4257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ESTRATÉGIA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1114425" y="4986388"/>
            <a:ext cx="425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REDUZIR PREÇO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1114425" y="5310238"/>
            <a:ext cx="4257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Ganhar Volume</a:t>
            </a:r>
            <a:endParaRPr/>
          </a:p>
        </p:txBody>
      </p:sp>
      <p:pic>
        <p:nvPicPr>
          <p:cNvPr descr="image.png" id="215" name="Google Shape;215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29400" y="2852937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9"/>
          <p:cNvSpPr txBox="1"/>
          <p:nvPr/>
        </p:nvSpPr>
        <p:spPr>
          <a:xfrm>
            <a:off x="9615075" y="2852925"/>
            <a:ext cx="165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0 &gt;β &gt;</a:t>
            </a:r>
            <a:r>
              <a:rPr b="1" i="0" lang="en-US" sz="24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- </a:t>
            </a:r>
            <a:r>
              <a:rPr b="1" lang="en-US" sz="24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r>
              <a:rPr b="1" i="0" lang="en-US" sz="24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.</a:t>
            </a:r>
            <a:r>
              <a:rPr b="1" lang="en-US" sz="24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5</a:t>
            </a:r>
            <a:endParaRPr sz="2400"/>
          </a:p>
        </p:txBody>
      </p:sp>
      <p:sp>
        <p:nvSpPr>
          <p:cNvPr id="217" name="Google Shape;217;p19"/>
          <p:cNvSpPr txBox="1"/>
          <p:nvPr/>
        </p:nvSpPr>
        <p:spPr>
          <a:xfrm>
            <a:off x="6819900" y="4843513"/>
            <a:ext cx="4257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ESTRATÉGIA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6819900" y="4986388"/>
            <a:ext cx="425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AUMENTAR PREÇO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6819900" y="5310238"/>
            <a:ext cx="4257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Maximizar Margem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3502801" y="457875"/>
            <a:ext cx="51864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O Score Beta (β)</a:t>
            </a:r>
            <a:endParaRPr sz="50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21" name="Google Shape;221;p19"/>
          <p:cNvSpPr txBox="1"/>
          <p:nvPr/>
        </p:nvSpPr>
        <p:spPr>
          <a:xfrm>
            <a:off x="3793863" y="1437800"/>
            <a:ext cx="5821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5C6C7"/>
                </a:solidFill>
                <a:latin typeface="Inter"/>
                <a:ea typeface="Inter"/>
                <a:cs typeface="Inter"/>
                <a:sym typeface="Inter"/>
              </a:rPr>
              <a:t>O termômetro que dita a estratégia.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descr="image.png" id="222" name="Google Shape;222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9"/>
          <p:cNvSpPr txBox="1"/>
          <p:nvPr/>
        </p:nvSpPr>
        <p:spPr>
          <a:xfrm>
            <a:off x="571500" y="6410325"/>
            <a:ext cx="1057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Rede Gazeta + Inteli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11325225" y="6410325"/>
            <a:ext cx="295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1365" y="2044005"/>
            <a:ext cx="4259609" cy="386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44005"/>
            <a:ext cx="6389341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396555"/>
            <a:ext cx="6389341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749105"/>
            <a:ext cx="6389341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85758" y="4617541"/>
            <a:ext cx="15906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0"/>
          <p:cNvSpPr txBox="1"/>
          <p:nvPr/>
        </p:nvSpPr>
        <p:spPr>
          <a:xfrm>
            <a:off x="581025" y="981075"/>
            <a:ext cx="11581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Faixas </a:t>
            </a:r>
            <a:r>
              <a:rPr b="1" lang="en-US" sz="42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</a:t>
            </a:r>
            <a:r>
              <a:rPr b="1" i="0" lang="en-US" sz="42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áticas de </a:t>
            </a:r>
            <a:r>
              <a:rPr b="1" lang="en-US" sz="42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</a:t>
            </a:r>
            <a:r>
              <a:rPr b="1" i="0" lang="en-US" sz="42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reço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8041525" y="2754275"/>
            <a:ext cx="2998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OUTPUT DO SISTEMA</a:t>
            </a:r>
            <a:endParaRPr sz="1800"/>
          </a:p>
        </p:txBody>
      </p:sp>
      <p:sp>
        <p:nvSpPr>
          <p:cNvPr id="236" name="Google Shape;236;p20"/>
          <p:cNvSpPr txBox="1"/>
          <p:nvPr/>
        </p:nvSpPr>
        <p:spPr>
          <a:xfrm>
            <a:off x="7922536" y="3194088"/>
            <a:ext cx="3117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R$ 145,00</a:t>
            </a:r>
            <a:endParaRPr/>
          </a:p>
        </p:txBody>
      </p:sp>
      <p:pic>
        <p:nvPicPr>
          <p:cNvPr descr="image.png" id="237" name="Google Shape;23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3925" y="238690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3925" y="373945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3925" y="509200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85850" y="254883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0"/>
          <p:cNvSpPr txBox="1"/>
          <p:nvPr/>
        </p:nvSpPr>
        <p:spPr>
          <a:xfrm>
            <a:off x="1580150" y="2109690"/>
            <a:ext cx="377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Unidade Real</a:t>
            </a:r>
            <a:endParaRPr sz="1800"/>
          </a:p>
        </p:txBody>
      </p:sp>
      <p:sp>
        <p:nvSpPr>
          <p:cNvPr id="242" name="Google Shape;242;p20"/>
          <p:cNvSpPr txBox="1"/>
          <p:nvPr/>
        </p:nvSpPr>
        <p:spPr>
          <a:xfrm>
            <a:off x="1590675" y="2515025"/>
            <a:ext cx="5177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Preços calculados diretamente por cada duração do espaço publicitário</a:t>
            </a:r>
            <a:endParaRPr sz="1600"/>
          </a:p>
        </p:txBody>
      </p:sp>
      <p:pic>
        <p:nvPicPr>
          <p:cNvPr descr="image.png" id="243" name="Google Shape;243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76325" y="3901380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0"/>
          <p:cNvSpPr txBox="1"/>
          <p:nvPr/>
        </p:nvSpPr>
        <p:spPr>
          <a:xfrm>
            <a:off x="1635050" y="3495590"/>
            <a:ext cx="461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Teto Inelástico </a:t>
            </a:r>
            <a:endParaRPr sz="1800"/>
          </a:p>
        </p:txBody>
      </p:sp>
      <p:sp>
        <p:nvSpPr>
          <p:cNvPr id="245" name="Google Shape;245;p20"/>
          <p:cNvSpPr txBox="1"/>
          <p:nvPr/>
        </p:nvSpPr>
        <p:spPr>
          <a:xfrm>
            <a:off x="1604525" y="3884463"/>
            <a:ext cx="5390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Levamos como base</a:t>
            </a:r>
            <a:r>
              <a:rPr b="0" i="0" lang="en-US" sz="16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o </a:t>
            </a:r>
            <a:r>
              <a:rPr b="1" i="0" lang="en-US" sz="16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Topo Histórico</a:t>
            </a:r>
            <a:r>
              <a:rPr b="0" i="0" lang="en-US" sz="16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6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(3º Quartil)</a:t>
            </a:r>
            <a:r>
              <a:rPr b="0" i="0" lang="en-US" sz="16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para </a:t>
            </a:r>
            <a:r>
              <a:rPr lang="en-US" sz="160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determinar o</a:t>
            </a:r>
            <a:r>
              <a:rPr b="0" i="0" lang="en-US" sz="16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valor.</a:t>
            </a:r>
            <a:endParaRPr sz="1600"/>
          </a:p>
        </p:txBody>
      </p:sp>
      <p:pic>
        <p:nvPicPr>
          <p:cNvPr descr="image.png" id="246" name="Google Shape;246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76325" y="5253930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0"/>
          <p:cNvSpPr txBox="1"/>
          <p:nvPr/>
        </p:nvSpPr>
        <p:spPr>
          <a:xfrm>
            <a:off x="1580150" y="4876765"/>
            <a:ext cx="472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Piso Elástico</a:t>
            </a:r>
            <a:endParaRPr sz="1800"/>
          </a:p>
        </p:txBody>
      </p:sp>
      <p:sp>
        <p:nvSpPr>
          <p:cNvPr id="248" name="Google Shape;248;p20"/>
          <p:cNvSpPr txBox="1"/>
          <p:nvPr/>
        </p:nvSpPr>
        <p:spPr>
          <a:xfrm>
            <a:off x="1590675" y="5253925"/>
            <a:ext cx="5390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Sugerimos o </a:t>
            </a:r>
            <a:r>
              <a:rPr b="1" i="0" lang="en-US" sz="16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Piso Histórico</a:t>
            </a:r>
            <a:r>
              <a:rPr b="0" i="0" lang="en-US" sz="16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(1º Quartil) para preencher grade.</a:t>
            </a:r>
            <a:endParaRPr sz="1600"/>
          </a:p>
        </p:txBody>
      </p:sp>
      <p:pic>
        <p:nvPicPr>
          <p:cNvPr descr="image.png" id="249" name="Google Shape;249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0"/>
          <p:cNvSpPr txBox="1"/>
          <p:nvPr/>
        </p:nvSpPr>
        <p:spPr>
          <a:xfrm>
            <a:off x="571500" y="6410325"/>
            <a:ext cx="1057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Rede Gazeta + Inteli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11325225" y="6410325"/>
            <a:ext cx="295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252" name="Google Shape;25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85846" y="5055841"/>
            <a:ext cx="15906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0"/>
          <p:cNvSpPr txBox="1"/>
          <p:nvPr/>
        </p:nvSpPr>
        <p:spPr>
          <a:xfrm>
            <a:off x="8704425" y="5030513"/>
            <a:ext cx="173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A1A1AA"/>
                </a:solidFill>
                <a:highlight>
                  <a:srgbClr val="333333"/>
                </a:highlight>
                <a:latin typeface="Inter"/>
                <a:ea typeface="Inter"/>
                <a:cs typeface="Inter"/>
                <a:sym typeface="Inter"/>
              </a:rPr>
              <a:t>Formato: Rotativo</a:t>
            </a:r>
            <a:r>
              <a:rPr lang="en-US" sz="1100">
                <a:solidFill>
                  <a:srgbClr val="333333"/>
                </a:solidFill>
                <a:highlight>
                  <a:srgbClr val="333333"/>
                </a:highlight>
                <a:latin typeface="Inter"/>
                <a:ea typeface="Inter"/>
                <a:cs typeface="Inter"/>
                <a:sym typeface="Inter"/>
              </a:rPr>
              <a:t>……</a:t>
            </a:r>
            <a:endParaRPr sz="1100">
              <a:solidFill>
                <a:srgbClr val="333333"/>
              </a:solidFill>
              <a:highlight>
                <a:srgbClr val="333333"/>
              </a:highlight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8704425" y="4569138"/>
            <a:ext cx="173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A1A1AA"/>
                </a:solidFill>
                <a:highlight>
                  <a:srgbClr val="333333"/>
                </a:highlight>
                <a:latin typeface="Inter"/>
                <a:ea typeface="Inter"/>
                <a:cs typeface="Inter"/>
                <a:sym typeface="Inter"/>
              </a:rPr>
              <a:t>Faixa sugerida 30s</a:t>
            </a:r>
            <a:r>
              <a:rPr lang="en-US" sz="1100">
                <a:solidFill>
                  <a:srgbClr val="333333"/>
                </a:solidFill>
                <a:highlight>
                  <a:srgbClr val="333333"/>
                </a:highlight>
                <a:latin typeface="Inter"/>
                <a:ea typeface="Inter"/>
                <a:cs typeface="Inter"/>
                <a:sym typeface="Inter"/>
              </a:rPr>
              <a:t>…</a:t>
            </a:r>
            <a:endParaRPr sz="1100">
              <a:solidFill>
                <a:srgbClr val="333333"/>
              </a:solidFill>
              <a:highlight>
                <a:srgbClr val="333333"/>
              </a:highlight>
            </a:endParaRPr>
          </a:p>
        </p:txBody>
      </p:sp>
      <p:pic>
        <p:nvPicPr>
          <p:cNvPr descr="image.png" id="255" name="Google Shape;25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85846" y="4179279"/>
            <a:ext cx="15906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0"/>
          <p:cNvSpPr txBox="1"/>
          <p:nvPr/>
        </p:nvSpPr>
        <p:spPr>
          <a:xfrm>
            <a:off x="8731450" y="4130850"/>
            <a:ext cx="1590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A1A1AA"/>
                </a:solidFill>
                <a:highlight>
                  <a:srgbClr val="333333"/>
                </a:highlight>
                <a:latin typeface="Inter"/>
                <a:ea typeface="Inter"/>
                <a:cs typeface="Inter"/>
                <a:sym typeface="Inter"/>
              </a:rPr>
              <a:t>Mês: Dezembro</a:t>
            </a:r>
            <a:r>
              <a:rPr lang="en-US" sz="1100">
                <a:solidFill>
                  <a:srgbClr val="333333"/>
                </a:solidFill>
                <a:highlight>
                  <a:srgbClr val="333333"/>
                </a:highlight>
                <a:latin typeface="Inter"/>
                <a:ea typeface="Inter"/>
                <a:cs typeface="Inter"/>
                <a:sym typeface="Inter"/>
              </a:rPr>
              <a:t>……..</a:t>
            </a:r>
            <a:endParaRPr sz="1100">
              <a:solidFill>
                <a:srgbClr val="333333"/>
              </a:solidFill>
              <a:highlight>
                <a:srgbClr val="333333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538848"/>
            <a:ext cx="3486150" cy="258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3400" y="2538850"/>
            <a:ext cx="3486150" cy="258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5300" y="2538848"/>
            <a:ext cx="3486150" cy="258412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1"/>
          <p:cNvSpPr txBox="1"/>
          <p:nvPr/>
        </p:nvSpPr>
        <p:spPr>
          <a:xfrm>
            <a:off x="1655444" y="581025"/>
            <a:ext cx="8881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Vantagem </a:t>
            </a:r>
            <a:r>
              <a:rPr b="1" lang="en-US" sz="48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</a:t>
            </a:r>
            <a:r>
              <a:rPr b="1" i="0" lang="en-US" sz="48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ompetitiva</a:t>
            </a:r>
            <a:endParaRPr/>
          </a:p>
        </p:txBody>
      </p:sp>
      <p:pic>
        <p:nvPicPr>
          <p:cNvPr descr="image.png" id="265" name="Google Shape;26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57400" y="2881745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1"/>
          <p:cNvSpPr txBox="1"/>
          <p:nvPr/>
        </p:nvSpPr>
        <p:spPr>
          <a:xfrm>
            <a:off x="1669494" y="3529445"/>
            <a:ext cx="1290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Mapa de Ação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914400" y="3877852"/>
            <a:ext cx="28005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Maior clareza</a:t>
            </a:r>
            <a:r>
              <a:rPr b="0" i="0" lang="en-US" sz="1200" u="none" cap="none" strike="noStrik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 de onde estão as oportunidades de margem e de volume.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descr="image.png" id="268" name="Google Shape;26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15025" y="2881745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1"/>
          <p:cNvSpPr txBox="1"/>
          <p:nvPr/>
        </p:nvSpPr>
        <p:spPr>
          <a:xfrm>
            <a:off x="5336381" y="3529445"/>
            <a:ext cx="1500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Ferramenta MVP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4686300" y="3877852"/>
            <a:ext cx="28005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Simulador para a equipe testar impacto dos preços sugeridos pelo modelo</a:t>
            </a:r>
            <a:r>
              <a:rPr b="0" i="0" lang="en-US" sz="1200" u="none" cap="none" strike="noStrik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 antes de fechar negócio.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descr="image.png" id="271" name="Google Shape;271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9775" y="288174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1"/>
          <p:cNvSpPr txBox="1"/>
          <p:nvPr/>
        </p:nvSpPr>
        <p:spPr>
          <a:xfrm>
            <a:off x="9158287" y="3529445"/>
            <a:ext cx="1400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Fim do "Chute"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8458200" y="3877852"/>
            <a:ext cx="28005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Decisões financeiras baseadas em estatística e valores, não em intuição.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descr="image.png" id="274" name="Google Shape;274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1"/>
          <p:cNvSpPr txBox="1"/>
          <p:nvPr/>
        </p:nvSpPr>
        <p:spPr>
          <a:xfrm>
            <a:off x="571500" y="6410325"/>
            <a:ext cx="1057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Rede Gazeta + Inteli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11325225" y="6410325"/>
            <a:ext cx="295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1" name="Google Shape;28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5100" y="1581150"/>
            <a:ext cx="6255875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5100" y="2552700"/>
            <a:ext cx="6255875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5100" y="3524250"/>
            <a:ext cx="6255875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55100" y="4495800"/>
            <a:ext cx="6255875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71625" y="17811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71625" y="275271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71625" y="37242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71625" y="46958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2"/>
          <p:cNvSpPr/>
          <p:nvPr/>
        </p:nvSpPr>
        <p:spPr>
          <a:xfrm>
            <a:off x="581025" y="2133748"/>
            <a:ext cx="781050" cy="276225"/>
          </a:xfrm>
          <a:prstGeom prst="roundRect">
            <a:avLst>
              <a:gd fmla="val 50000" name="adj"/>
            </a:avLst>
          </a:prstGeom>
          <a:solidFill>
            <a:srgbClr val="003B71"/>
          </a:solidFill>
          <a:ln cap="flat" cmpd="sng" w="9525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2"/>
          <p:cNvSpPr txBox="1"/>
          <p:nvPr/>
        </p:nvSpPr>
        <p:spPr>
          <a:xfrm>
            <a:off x="695325" y="2190898"/>
            <a:ext cx="552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FUTURO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581025" y="2552848"/>
            <a:ext cx="48906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Próximos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Passos</a:t>
            </a:r>
            <a:endParaRPr/>
          </a:p>
        </p:txBody>
      </p:sp>
      <p:sp>
        <p:nvSpPr>
          <p:cNvPr id="292" name="Google Shape;292;p22"/>
          <p:cNvSpPr txBox="1"/>
          <p:nvPr/>
        </p:nvSpPr>
        <p:spPr>
          <a:xfrm>
            <a:off x="581025" y="4179540"/>
            <a:ext cx="4657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O caminho para a maturidade total </a:t>
            </a:r>
            <a:r>
              <a:rPr lang="en-US" sz="165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da solução</a:t>
            </a:r>
            <a:endParaRPr/>
          </a:p>
        </p:txBody>
      </p:sp>
      <p:sp>
        <p:nvSpPr>
          <p:cNvPr id="293" name="Google Shape;293;p22"/>
          <p:cNvSpPr txBox="1"/>
          <p:nvPr/>
        </p:nvSpPr>
        <p:spPr>
          <a:xfrm>
            <a:off x="5980175" y="1933082"/>
            <a:ext cx="5259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Precificação Diária (Granularidade Máxima)</a:t>
            </a:r>
            <a:endParaRPr/>
          </a:p>
        </p:txBody>
      </p:sp>
      <p:sp>
        <p:nvSpPr>
          <p:cNvPr id="294" name="Google Shape;294;p22"/>
          <p:cNvSpPr txBox="1"/>
          <p:nvPr/>
        </p:nvSpPr>
        <p:spPr>
          <a:xfrm>
            <a:off x="5980175" y="2835700"/>
            <a:ext cx="4564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Design System &amp; Interface Interna</a:t>
            </a:r>
            <a:endParaRPr/>
          </a:p>
        </p:txBody>
      </p:sp>
      <p:sp>
        <p:nvSpPr>
          <p:cNvPr id="295" name="Google Shape;295;p22"/>
          <p:cNvSpPr txBox="1"/>
          <p:nvPr/>
        </p:nvSpPr>
        <p:spPr>
          <a:xfrm>
            <a:off x="5980175" y="3814750"/>
            <a:ext cx="423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Cálculo de impacto com base em preços sugeridos</a:t>
            </a:r>
            <a:endParaRPr/>
          </a:p>
        </p:txBody>
      </p:sp>
      <p:sp>
        <p:nvSpPr>
          <p:cNvPr id="296" name="Google Shape;296;p22"/>
          <p:cNvSpPr txBox="1"/>
          <p:nvPr/>
        </p:nvSpPr>
        <p:spPr>
          <a:xfrm>
            <a:off x="5980175" y="4786300"/>
            <a:ext cx="4745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Integração com a </a:t>
            </a:r>
            <a:r>
              <a:rPr b="1" lang="en-US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loud </a:t>
            </a:r>
            <a:r>
              <a:rPr b="1" lang="en-US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 com o </a:t>
            </a: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-US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anco de </a:t>
            </a:r>
            <a:r>
              <a:rPr b="1" lang="en-US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ados</a:t>
            </a:r>
            <a:endParaRPr/>
          </a:p>
        </p:txBody>
      </p:sp>
      <p:pic>
        <p:nvPicPr>
          <p:cNvPr descr="image.png" id="297" name="Google Shape;297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2"/>
          <p:cNvSpPr txBox="1"/>
          <p:nvPr/>
        </p:nvSpPr>
        <p:spPr>
          <a:xfrm>
            <a:off x="571500" y="6410325"/>
            <a:ext cx="1057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Rede Gazeta + Inteli</a:t>
            </a:r>
            <a:endParaRPr/>
          </a:p>
        </p:txBody>
      </p:sp>
      <p:sp>
        <p:nvSpPr>
          <p:cNvPr id="299" name="Google Shape;299;p22"/>
          <p:cNvSpPr txBox="1"/>
          <p:nvPr/>
        </p:nvSpPr>
        <p:spPr>
          <a:xfrm>
            <a:off x="11325225" y="6410325"/>
            <a:ext cx="295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140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4" name="Google Shape;30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3850" y="4276725"/>
            <a:ext cx="392430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3"/>
          <p:cNvSpPr txBox="1"/>
          <p:nvPr/>
        </p:nvSpPr>
        <p:spPr>
          <a:xfrm>
            <a:off x="760500" y="1441275"/>
            <a:ext cx="10671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Agradecemos pela atenção!</a:t>
            </a:r>
            <a:endParaRPr/>
          </a:p>
        </p:txBody>
      </p:sp>
      <p:sp>
        <p:nvSpPr>
          <p:cNvPr id="307" name="Google Shape;307;p23"/>
          <p:cNvSpPr txBox="1"/>
          <p:nvPr/>
        </p:nvSpPr>
        <p:spPr>
          <a:xfrm>
            <a:off x="3288900" y="2927175"/>
            <a:ext cx="5614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899A6"/>
                </a:solidFill>
                <a:latin typeface="Inter"/>
                <a:ea typeface="Inter"/>
                <a:cs typeface="Inter"/>
                <a:sym typeface="Inter"/>
              </a:rPr>
              <a:t>A revolução da precificação começa agora.</a:t>
            </a:r>
            <a:endParaRPr/>
          </a:p>
        </p:txBody>
      </p:sp>
      <p:sp>
        <p:nvSpPr>
          <p:cNvPr id="308" name="Google Shape;308;p23"/>
          <p:cNvSpPr txBox="1"/>
          <p:nvPr/>
        </p:nvSpPr>
        <p:spPr>
          <a:xfrm>
            <a:off x="4435277" y="4611737"/>
            <a:ext cx="1160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REDE GAZETA</a:t>
            </a:r>
            <a:endParaRPr/>
          </a:p>
        </p:txBody>
      </p:sp>
      <p:sp>
        <p:nvSpPr>
          <p:cNvPr id="309" name="Google Shape;309;p23"/>
          <p:cNvSpPr/>
          <p:nvPr/>
        </p:nvSpPr>
        <p:spPr>
          <a:xfrm>
            <a:off x="6029375" y="4562400"/>
            <a:ext cx="29400" cy="285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3"/>
          <p:cNvSpPr txBox="1"/>
          <p:nvPr/>
        </p:nvSpPr>
        <p:spPr>
          <a:xfrm>
            <a:off x="6807041" y="4611737"/>
            <a:ext cx="540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INTELI</a:t>
            </a:r>
            <a:endParaRPr/>
          </a:p>
        </p:txBody>
      </p:sp>
      <p:pic>
        <p:nvPicPr>
          <p:cNvPr id="311" name="Google Shape;311;p23"/>
          <p:cNvPicPr preferRelativeResize="0"/>
          <p:nvPr/>
        </p:nvPicPr>
        <p:blipFill rotWithShape="1">
          <a:blip r:embed="rId5">
            <a:alphaModFix/>
          </a:blip>
          <a:srcRect b="0" l="0" r="70117" t="0"/>
          <a:stretch/>
        </p:blipFill>
        <p:spPr>
          <a:xfrm>
            <a:off x="4543538" y="5341412"/>
            <a:ext cx="943583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42200" y="5422837"/>
            <a:ext cx="1269701" cy="69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